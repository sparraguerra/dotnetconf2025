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6" r:id="rId1"/>
    <p:sldMasterId id="2147483707" r:id="rId2"/>
  </p:sldMasterIdLst>
  <p:notesMasterIdLst>
    <p:notesMasterId r:id="rId11"/>
  </p:notesMasterIdLst>
  <p:sldIdLst>
    <p:sldId id="398" r:id="rId3"/>
    <p:sldId id="2147483622" r:id="rId4"/>
    <p:sldId id="2147479619" r:id="rId5"/>
    <p:sldId id="2147483624" r:id="rId6"/>
    <p:sldId id="2147483632" r:id="rId7"/>
    <p:sldId id="2147483627" r:id="rId8"/>
    <p:sldId id="2147479636" r:id="rId9"/>
    <p:sldId id="2147483625" r:id="rId10"/>
  </p:sldIdLst>
  <p:sldSz cx="24387175" cy="13716000"/>
  <p:notesSz cx="13716000" cy="2438717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AB3FA"/>
    <a:srgbClr val="3D8AFF"/>
    <a:srgbClr val="C1BCF3"/>
    <a:srgbClr val="1E0756"/>
    <a:srgbClr val="0657B2"/>
    <a:srgbClr val="EEEAFA"/>
    <a:srgbClr val="1F1E32"/>
    <a:srgbClr val="F4B1C9"/>
    <a:srgbClr val="EF99DD"/>
    <a:srgbClr val="D600A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2DEE2BB-7CEE-4D1F-AC67-A8FE4F0D85E1}" v="16" dt="2026-02-11T11:16:04.29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361"/>
    <p:restoredTop sz="90000"/>
  </p:normalViewPr>
  <p:slideViewPr>
    <p:cSldViewPr snapToGrid="0">
      <p:cViewPr varScale="1">
        <p:scale>
          <a:sx n="50" d="100"/>
          <a:sy n="50" d="100"/>
        </p:scale>
        <p:origin x="432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viewProps" Target="viewProp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6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3.xml"/><Relationship Id="rId15" Type="http://schemas.openxmlformats.org/officeDocument/2006/relationships/tableStyles" Target="tableStyles.xml"/><Relationship Id="rId10" Type="http://schemas.openxmlformats.org/officeDocument/2006/relationships/slide" Target="slides/slide8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876494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367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333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Speaker: Mike</a:t>
            </a:r>
          </a:p>
          <a:p>
            <a:endParaRPr lang="en-US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 defTabSz="914099" eaLnBrk="0" hangingPunct="0"/>
            <a:r>
              <a:rPr lang="en-US" sz="400">
                <a:gradFill>
                  <a:gsLst>
                    <a:gs pos="0">
                      <a:prstClr val="black"/>
                    </a:gs>
                    <a:gs pos="100000">
                      <a:prstClr val="black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rPr>
              <a:t>© Microsoft Corporation. All rights reserved. MICROSOFT MAKES NO WARRANTIES, EXPRESS, IMPLIED OR STATUTORY, AS TO THE INFORMATION IN THIS PRESENTATION.</a:t>
            </a:r>
          </a:p>
        </p:txBody>
      </p:sp>
      <p:sp>
        <p:nvSpPr>
          <p:cNvPr id="6" name="Date Placeholder 5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fld id="{2D91FF38-03BF-E345-8DFA-92A7B1D66F0D}" type="datetime8">
              <a:rPr lang="en-US" smtClean="0"/>
              <a:t>2/12/2026 10:09 AM</a:t>
            </a:fld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008EB6-D09E-4580-8CD6-DDB14511944F}" type="slidenum">
              <a:rPr lang="en-US" smtClean="0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566740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4EDC52-570B-24BF-9A95-1078B04C95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4067818-716E-6F92-1E0A-CD87635155D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062A1F-17A0-29B1-1779-4F3B2F33D2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367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333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Speaker: Mike</a:t>
            </a:r>
          </a:p>
          <a:p>
            <a:endParaRPr lang="en-US"/>
          </a:p>
        </p:txBody>
      </p:sp>
      <p:sp>
        <p:nvSpPr>
          <p:cNvPr id="4" name="Header Placeholder 3">
            <a:extLst>
              <a:ext uri="{FF2B5EF4-FFF2-40B4-BE49-F238E27FC236}">
                <a16:creationId xmlns:a16="http://schemas.microsoft.com/office/drawing/2014/main" id="{5D333B13-CA98-E818-E895-725C97BC20C6}"/>
              </a:ext>
            </a:extLst>
          </p:cNvPr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0232D6-6FB8-AD71-9AF9-DDBF60592703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 defTabSz="914099" eaLnBrk="0" hangingPunct="0"/>
            <a:r>
              <a:rPr lang="en-US" sz="400">
                <a:gradFill>
                  <a:gsLst>
                    <a:gs pos="0">
                      <a:prstClr val="black"/>
                    </a:gs>
                    <a:gs pos="100000">
                      <a:prstClr val="black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rPr>
              <a:t>© Microsoft Corporation. All rights reserved. MICROSOFT MAKES NO WARRANTIES, EXPRESS, IMPLIED OR STATUTORY, AS TO THE INFORMATION IN THIS PRESENTATION.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4F3C7EB0-847D-1DFF-D664-FF64D003D240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fld id="{2D91FF38-03BF-E345-8DFA-92A7B1D66F0D}" type="datetime8">
              <a:rPr lang="en-US" smtClean="0"/>
              <a:t>2/12/2026 10:09 AM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37CC67A-D73D-4DCC-1346-8A78719F7A6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008EB6-D09E-4580-8CD6-DDB14511944F}" type="slidenum">
              <a:rPr lang="en-US" smtClean="0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786067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8788" y="3048000"/>
            <a:ext cx="14633576" cy="82311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6388"/>
            <a:ext cx="10972800" cy="9602787"/>
          </a:xfrm>
          <a:prstGeom prst="rect">
            <a:avLst/>
          </a:prstGeom>
        </p:spPr>
        <p:txBody>
          <a:bodyPr/>
          <a:lstStyle/>
          <a:p>
            <a:r>
              <a:rPr lang="en-US"/>
              <a:t>Also demonstrates OpenAPI 3.1, XML doc comments, </a:t>
            </a:r>
          </a:p>
        </p:txBody>
      </p:sp>
    </p:spTree>
    <p:extLst>
      <p:ext uri="{BB962C8B-B14F-4D97-AF65-F5344CB8AC3E}">
        <p14:creationId xmlns:p14="http://schemas.microsoft.com/office/powerpoint/2010/main" val="335393957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8DC6B9-AE53-E4E0-67B2-645E4A4B78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F37D470-B3BA-7972-020A-6939463FA26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8788" y="3048000"/>
            <a:ext cx="14633576" cy="82311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9C6DD8-2AFA-9CB2-BCA7-E881885AE1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6388"/>
            <a:ext cx="10972800" cy="960278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476443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">
    <p:bg>
      <p:bgPr>
        <a:gradFill>
          <a:gsLst>
            <a:gs pos="0">
              <a:srgbClr val="0657B2"/>
            </a:gs>
            <a:gs pos="100000">
              <a:srgbClr val="1E0756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A7B5EEFF-2BB5-A52C-260D-554CFB70692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24387175" cy="2648295"/>
          </a:xfrm>
          <a:prstGeom prst="rect">
            <a:avLst/>
          </a:prstGeom>
        </p:spPr>
      </p:pic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FB2202B6-F7AE-4B3E-3EEE-7AD38C243F6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088058" y="1041400"/>
            <a:ext cx="11658600" cy="1828800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ts val="15000"/>
              </a:lnSpc>
              <a:buNone/>
              <a:defRPr lang="en-US" sz="15000" b="1" i="0" kern="0" spc="-750" dirty="0" smtClean="0">
                <a:solidFill>
                  <a:schemeClr val="bg1"/>
                </a:solidFill>
                <a:latin typeface="Poppins" pitchFamily="2" charset="77"/>
                <a:ea typeface="Poppins" pitchFamily="2" charset="77"/>
                <a:cs typeface="Poppins" pitchFamily="2" charset="77"/>
              </a:defRPr>
            </a:lvl1pPr>
          </a:lstStyle>
          <a:p>
            <a:pPr lvl="0"/>
            <a:r>
              <a:rPr lang="en-US"/>
              <a:t>Title</a:t>
            </a:r>
          </a:p>
          <a:p>
            <a:pPr lvl="0"/>
            <a:endParaRPr lang="en-US"/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D6E4B5D0-1A1D-7256-DDEF-FFD34D9EC12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088058" y="2921000"/>
            <a:ext cx="11658600" cy="1828800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ts val="15000"/>
              </a:lnSpc>
              <a:buNone/>
              <a:defRPr lang="en-US" sz="15000" b="0" i="0" kern="0" spc="-750" dirty="0" smtClean="0">
                <a:solidFill>
                  <a:schemeClr val="bg2"/>
                </a:solidFill>
                <a:latin typeface="Poppins" pitchFamily="2" charset="77"/>
                <a:ea typeface="Poppins" pitchFamily="2" charset="77"/>
                <a:cs typeface="Poppins" pitchFamily="2" charset="77"/>
              </a:defRPr>
            </a:lvl1pPr>
          </a:lstStyle>
          <a:p>
            <a:pPr lvl="0"/>
            <a:r>
              <a:rPr lang="en-US"/>
              <a:t>Subtitle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E58028D-48E9-F953-AF99-287F28B4BC9F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1470317" y="1041400"/>
            <a:ext cx="1828800" cy="1828800"/>
          </a:xfrm>
          <a:prstGeom prst="rect">
            <a:avLst/>
          </a:prstGeom>
        </p:spPr>
      </p:pic>
      <p:pic>
        <p:nvPicPr>
          <p:cNvPr id="3" name="Picture 2" descr="A purple object with light beams">
            <a:extLst>
              <a:ext uri="{FF2B5EF4-FFF2-40B4-BE49-F238E27FC236}">
                <a16:creationId xmlns:a16="http://schemas.microsoft.com/office/drawing/2014/main" id="{B95DBEA6-A735-B2EF-582C-219438B2AB07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-322730" y="3835400"/>
            <a:ext cx="24387175" cy="95548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99528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/subtitle only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19">
            <a:extLst>
              <a:ext uri="{FF2B5EF4-FFF2-40B4-BE49-F238E27FC236}">
                <a16:creationId xmlns:a16="http://schemas.microsoft.com/office/drawing/2014/main" id="{DC24AF06-9E24-29B8-6CAD-503F1F6D1B7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140565" y="1066800"/>
            <a:ext cx="7010400" cy="939800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ts val="6800"/>
              </a:lnSpc>
              <a:buNone/>
              <a:defRPr lang="en-US" sz="6000" b="1" i="0" kern="0" spc="-120" dirty="0" smtClean="0">
                <a:solidFill>
                  <a:schemeClr val="bg1"/>
                </a:solidFill>
                <a:latin typeface="Poppins" pitchFamily="2" charset="77"/>
                <a:ea typeface="Poppins" pitchFamily="2" charset="77"/>
                <a:cs typeface="Poppins" pitchFamily="2" charset="77"/>
              </a:defRPr>
            </a:lvl1pPr>
          </a:lstStyle>
          <a:p>
            <a:pPr lvl="0"/>
            <a:r>
              <a:rPr lang="en-US"/>
              <a:t>Title</a:t>
            </a:r>
          </a:p>
          <a:p>
            <a:pPr lvl="0"/>
            <a:endParaRPr lang="en-US"/>
          </a:p>
        </p:txBody>
      </p:sp>
      <p:sp>
        <p:nvSpPr>
          <p:cNvPr id="6" name="Text Placeholder 19">
            <a:extLst>
              <a:ext uri="{FF2B5EF4-FFF2-40B4-BE49-F238E27FC236}">
                <a16:creationId xmlns:a16="http://schemas.microsoft.com/office/drawing/2014/main" id="{CC4C3579-39BD-FD7E-6A30-B13AA438333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140565" y="1930400"/>
            <a:ext cx="7010400" cy="939800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ts val="6800"/>
              </a:lnSpc>
              <a:buNone/>
              <a:defRPr lang="en-US" sz="6000" b="0" i="0" kern="0" spc="-120" dirty="0" smtClean="0">
                <a:solidFill>
                  <a:schemeClr val="bg2"/>
                </a:solidFill>
                <a:latin typeface="Poppins" pitchFamily="2" charset="77"/>
                <a:ea typeface="Poppins" pitchFamily="2" charset="77"/>
                <a:cs typeface="Poppins" pitchFamily="2" charset="77"/>
              </a:defRPr>
            </a:lvl1pPr>
          </a:lstStyle>
          <a:p>
            <a:pPr lvl="0"/>
            <a:r>
              <a:rPr lang="en-US"/>
              <a:t>Subtitle</a:t>
            </a:r>
          </a:p>
          <a:p>
            <a:pPr lvl="0"/>
            <a:endParaRPr lang="en-US"/>
          </a:p>
        </p:txBody>
      </p:sp>
      <p:sp>
        <p:nvSpPr>
          <p:cNvPr id="3" name="Chart Placeholder 2">
            <a:extLst>
              <a:ext uri="{FF2B5EF4-FFF2-40B4-BE49-F238E27FC236}">
                <a16:creationId xmlns:a16="http://schemas.microsoft.com/office/drawing/2014/main" id="{37FAA54B-2E67-1405-41E1-8BC64A2278D6}"/>
              </a:ext>
            </a:extLst>
          </p:cNvPr>
          <p:cNvSpPr>
            <a:spLocks noGrp="1"/>
          </p:cNvSpPr>
          <p:nvPr>
            <p:ph type="chart" sz="quarter" idx="12"/>
          </p:nvPr>
        </p:nvSpPr>
        <p:spPr>
          <a:xfrm>
            <a:off x="9359160" y="1104900"/>
            <a:ext cx="13887450" cy="11506200"/>
          </a:xfrm>
          <a:prstGeom prst="roundRect">
            <a:avLst>
              <a:gd name="adj" fmla="val 3505"/>
            </a:avLst>
          </a:prstGeom>
        </p:spPr>
        <p:txBody>
          <a:bodyPr/>
          <a:lstStyle>
            <a:lvl1pPr>
              <a:defRPr b="0" i="0">
                <a:latin typeface="Poppins" pitchFamily="2" charset="77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0974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mo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9">
            <a:extLst>
              <a:ext uri="{FF2B5EF4-FFF2-40B4-BE49-F238E27FC236}">
                <a16:creationId xmlns:a16="http://schemas.microsoft.com/office/drawing/2014/main" id="{FDB64B77-E38D-1ACA-5A15-6809BD7C672C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1123701" y="4219279"/>
            <a:ext cx="7010400" cy="1890091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ts val="68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lang="en-US" sz="6000" b="0" i="0" kern="0" spc="-120">
                <a:solidFill>
                  <a:schemeClr val="bg1"/>
                </a:solidFill>
                <a:latin typeface="Poppins" pitchFamily="2" charset="77"/>
                <a:ea typeface="Segoe UI Variable Display Bold" pitchFamily="34" charset="-122"/>
                <a:cs typeface="Segoe UI Variable Display Bold" pitchFamily="34" charset="-12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ts val="68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0" b="1" i="0" u="none" strike="noStrike" kern="0" cap="none" spc="-120" normalizeH="0" baseline="0" noProof="0">
                <a:ln>
                  <a:noFill/>
                </a:ln>
                <a:effectLst/>
                <a:uLnTx/>
                <a:uFillTx/>
                <a:latin typeface="Segoe UI Variable Display" pitchFamily="2" charset="0"/>
                <a:ea typeface="Segoe UI Variable Display Bold" pitchFamily="34" charset="-122"/>
                <a:cs typeface="Segoe UI Variable Display Bold" pitchFamily="34" charset="-120"/>
              </a:rPr>
              <a:t>GitHub Copilot </a:t>
            </a:r>
            <a:br>
              <a:rPr kumimoji="0" lang="en-US" sz="6000" b="1" i="0" u="none" strike="noStrike" kern="0" cap="none" spc="-120" normalizeH="0" baseline="0" noProof="0">
                <a:ln>
                  <a:noFill/>
                </a:ln>
                <a:effectLst/>
                <a:uLnTx/>
                <a:uFillTx/>
                <a:latin typeface="Segoe UI Variable Display" pitchFamily="2" charset="0"/>
                <a:ea typeface="Segoe UI Variable Display Bold" pitchFamily="34" charset="-122"/>
                <a:cs typeface="Segoe UI Variable Display Bold" pitchFamily="34" charset="-120"/>
              </a:rPr>
            </a:br>
            <a:r>
              <a:rPr kumimoji="0" lang="en-US" sz="6000" b="1" i="0" u="none" strike="noStrike" kern="0" cap="none" spc="-120" normalizeH="0" baseline="0" noProof="0">
                <a:ln>
                  <a:noFill/>
                </a:ln>
                <a:effectLst/>
                <a:uLnTx/>
                <a:uFillTx/>
                <a:latin typeface="Segoe UI Variable Display" pitchFamily="2" charset="0"/>
                <a:ea typeface="Segoe UI Variable Display Bold" pitchFamily="34" charset="-122"/>
                <a:cs typeface="Segoe UI Variable Display Bold" pitchFamily="34" charset="-120"/>
              </a:rPr>
              <a:t>app modernization</a:t>
            </a:r>
          </a:p>
        </p:txBody>
      </p:sp>
      <p:sp>
        <p:nvSpPr>
          <p:cNvPr id="3" name="Picture Placeholder 5">
            <a:extLst>
              <a:ext uri="{FF2B5EF4-FFF2-40B4-BE49-F238E27FC236}">
                <a16:creationId xmlns:a16="http://schemas.microsoft.com/office/drawing/2014/main" id="{D7D85207-8BBB-CCE1-CB12-F932B4FFD4BB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10544175" y="1143000"/>
            <a:ext cx="12687300" cy="11315700"/>
          </a:xfrm>
          <a:prstGeom prst="roundRect">
            <a:avLst>
              <a:gd name="adj" fmla="val 3536"/>
            </a:avLst>
          </a:prstGeom>
          <a:noFill/>
          <a:ln w="38100">
            <a:gradFill>
              <a:gsLst>
                <a:gs pos="0">
                  <a:schemeClr val="accent3"/>
                </a:gs>
                <a:gs pos="32000">
                  <a:schemeClr val="accent6"/>
                </a:gs>
                <a:gs pos="65000">
                  <a:srgbClr val="8853F0"/>
                </a:gs>
                <a:gs pos="100000">
                  <a:schemeClr val="accent1"/>
                </a:gs>
              </a:gsLst>
              <a:lin ang="3000000" scaled="0"/>
            </a:gradFill>
          </a:ln>
          <a:effectLst>
            <a:glow rad="254000">
              <a:schemeClr val="accent4">
                <a:alpha val="9137"/>
              </a:schemeClr>
            </a:glow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>
            <a:lvl1pPr>
              <a:defRPr lang="en-US" sz="1800" b="0" i="0" dirty="0">
                <a:latin typeface="Poppins" pitchFamily="2" charset="77"/>
              </a:defRPr>
            </a:lvl1pPr>
          </a:lstStyle>
          <a:p>
            <a:pPr marL="0" lvl="0"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5E21DE6-35C9-049F-DAB0-6C145F3846EB}"/>
              </a:ext>
            </a:extLst>
          </p:cNvPr>
          <p:cNvSpPr txBox="1"/>
          <p:nvPr userDrawn="1"/>
        </p:nvSpPr>
        <p:spPr>
          <a:xfrm>
            <a:off x="1123701" y="974035"/>
            <a:ext cx="2874505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0">
                <a:solidFill>
                  <a:schemeClr val="bg1"/>
                </a:solidFill>
              </a:rPr>
              <a:t>DEMO</a:t>
            </a:r>
            <a:endParaRPr lang="en-US" sz="400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404390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itl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9">
            <a:extLst>
              <a:ext uri="{FF2B5EF4-FFF2-40B4-BE49-F238E27FC236}">
                <a16:creationId xmlns:a16="http://schemas.microsoft.com/office/drawing/2014/main" id="{018E0206-ABFD-233B-CA82-D4589F7C8DB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757377" y="6096225"/>
            <a:ext cx="7010400" cy="1289311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ts val="10800"/>
              </a:lnSpc>
              <a:buNone/>
              <a:defRPr lang="en-US" sz="10000" b="0" i="0" kern="0" spc="-120" dirty="0" smtClean="0">
                <a:solidFill>
                  <a:schemeClr val="bg1"/>
                </a:solidFill>
                <a:latin typeface="Poppins" pitchFamily="2" charset="77"/>
                <a:ea typeface="Poppins" pitchFamily="2" charset="77"/>
                <a:cs typeface="Poppins" pitchFamily="2" charset="77"/>
              </a:defRPr>
            </a:lvl1pPr>
          </a:lstStyle>
          <a:p>
            <a:pPr marL="0" indent="0" algn="l">
              <a:lnSpc>
                <a:spcPts val="10800"/>
              </a:lnSpc>
              <a:buNone/>
            </a:pPr>
            <a:r>
              <a:rPr lang="en-US" sz="10000" kern="0" spc="-400">
                <a:solidFill>
                  <a:schemeClr val="bg1"/>
                </a:solidFill>
                <a:latin typeface="Segoe UI Variable Display Semibold" pitchFamily="34" charset="0"/>
                <a:ea typeface="Segoe UI Variable Display Semibold" pitchFamily="34" charset="-122"/>
                <a:cs typeface="Segoe UI Variable Display Semibold" pitchFamily="34" charset="-120"/>
              </a:rPr>
              <a:t>Section title</a:t>
            </a:r>
            <a:endParaRPr lang="en-US" sz="10000">
              <a:solidFill>
                <a:schemeClr val="bg1"/>
              </a:solidFill>
            </a:endParaRPr>
          </a:p>
        </p:txBody>
      </p:sp>
      <p:sp>
        <p:nvSpPr>
          <p:cNvPr id="8" name="Text Placeholder 19">
            <a:extLst>
              <a:ext uri="{FF2B5EF4-FFF2-40B4-BE49-F238E27FC236}">
                <a16:creationId xmlns:a16="http://schemas.microsoft.com/office/drawing/2014/main" id="{3293E78D-709C-33A8-2CDF-C6266EB45DB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039105" y="6096226"/>
            <a:ext cx="1553370" cy="1289312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ts val="10800"/>
              </a:lnSpc>
              <a:buNone/>
              <a:defRPr lang="en-US" sz="10000" b="0" i="0" kern="0" spc="-400" dirty="0">
                <a:solidFill>
                  <a:schemeClr val="tx2"/>
                </a:solidFill>
                <a:latin typeface="Poppins" pitchFamily="2" charset="77"/>
                <a:ea typeface="Poppins" pitchFamily="2" charset="77"/>
                <a:cs typeface="Poppins" pitchFamily="2" charset="77"/>
              </a:defRPr>
            </a:lvl1pPr>
          </a:lstStyle>
          <a:p>
            <a:pPr lvl="0"/>
            <a:r>
              <a:rPr lang="en-US" sz="10000" kern="0" spc="-400">
                <a:solidFill>
                  <a:schemeClr val="bg2"/>
                </a:solidFill>
                <a:latin typeface="Segoe UI Variable Display Semibold" pitchFamily="34" charset="0"/>
                <a:ea typeface="Segoe UI Variable Display Semibold" pitchFamily="34" charset="-122"/>
                <a:cs typeface="Segoe UI Variable Display Semibold" pitchFamily="34" charset="-120"/>
              </a:rPr>
              <a:t>01</a:t>
            </a:r>
            <a:endParaRPr lang="en-US"/>
          </a:p>
        </p:txBody>
      </p:sp>
      <p:pic>
        <p:nvPicPr>
          <p:cNvPr id="7" name="Picture 6" descr="A cartoon robot with a black background&#10;&#10;AI-generated content may be incorrect.">
            <a:extLst>
              <a:ext uri="{FF2B5EF4-FFF2-40B4-BE49-F238E27FC236}">
                <a16:creationId xmlns:a16="http://schemas.microsoft.com/office/drawing/2014/main" id="{FB84EBE4-D76E-246F-EA29-FA79222DA5F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9621500" y="8761413"/>
            <a:ext cx="4383087" cy="43830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28604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19">
            <a:extLst>
              <a:ext uri="{FF2B5EF4-FFF2-40B4-BE49-F238E27FC236}">
                <a16:creationId xmlns:a16="http://schemas.microsoft.com/office/drawing/2014/main" id="{D1DA0781-BBE4-E3D7-52FC-37514CB1178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39108" y="6078642"/>
            <a:ext cx="7010400" cy="1289311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ts val="10800"/>
              </a:lnSpc>
              <a:buNone/>
              <a:defRPr lang="en-US" sz="10000" b="0" i="0" kern="0" spc="-120" dirty="0" smtClean="0">
                <a:solidFill>
                  <a:srgbClr val="0F0F0F">
                    <a:alpha val="100000"/>
                  </a:srgbClr>
                </a:solidFill>
                <a:latin typeface="Poppins" pitchFamily="2" charset="77"/>
                <a:ea typeface="Poppins" pitchFamily="2" charset="77"/>
                <a:cs typeface="Poppins" pitchFamily="2" charset="77"/>
              </a:defRPr>
            </a:lvl1pPr>
          </a:lstStyle>
          <a:p>
            <a:pPr marL="0" indent="0" algn="l">
              <a:lnSpc>
                <a:spcPts val="10800"/>
              </a:lnSpc>
              <a:buNone/>
            </a:pPr>
            <a:r>
              <a:rPr lang="en-US" sz="10000" kern="0" spc="-400">
                <a:solidFill>
                  <a:schemeClr val="bg1"/>
                </a:solidFill>
                <a:latin typeface="Segoe UI Variable Display Semibold" pitchFamily="34" charset="0"/>
                <a:ea typeface="Segoe UI Variable Display Semibold" pitchFamily="34" charset="-122"/>
                <a:cs typeface="Segoe UI Variable Display Semibold" pitchFamily="34" charset="-120"/>
              </a:rPr>
              <a:t>Thank you</a:t>
            </a:r>
            <a:endParaRPr lang="en-US" sz="10000">
              <a:solidFill>
                <a:schemeClr val="bg1"/>
              </a:solidFill>
            </a:endParaRPr>
          </a:p>
        </p:txBody>
      </p:sp>
      <p:pic>
        <p:nvPicPr>
          <p:cNvPr id="15" name="Picture 14" descr="A purple square object with white text&#10;&#10;AI-generated content may be incorrect.">
            <a:extLst>
              <a:ext uri="{FF2B5EF4-FFF2-40B4-BE49-F238E27FC236}">
                <a16:creationId xmlns:a16="http://schemas.microsoft.com/office/drawing/2014/main" id="{93B04985-6D98-3A22-ECB5-A16BB5BB940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099175" y="1866900"/>
            <a:ext cx="18288000" cy="10287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02530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676619" y="2882347"/>
            <a:ext cx="21033938" cy="1010340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8532076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676619" y="2882347"/>
            <a:ext cx="21033938" cy="1010340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1527348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676618" y="2923067"/>
            <a:ext cx="10364549" cy="100626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346008" y="2923069"/>
            <a:ext cx="10364549" cy="1006267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5226128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6947585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449027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9.xml"/><Relationship Id="rId2" Type="http://schemas.openxmlformats.org/officeDocument/2006/relationships/slideLayout" Target="../slideLayouts/slideLayout8.xml"/><Relationship Id="rId1" Type="http://schemas.openxmlformats.org/officeDocument/2006/relationships/slideLayout" Target="../slideLayouts/slideLayout7.xml"/><Relationship Id="rId5" Type="http://schemas.openxmlformats.org/officeDocument/2006/relationships/theme" Target="../theme/theme2.xml"/><Relationship Id="rId4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147717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87" r:id="rId2"/>
    <p:sldLayoutId id="2147483713" r:id="rId3"/>
    <p:sldLayoutId id="2147483701" r:id="rId4"/>
    <p:sldLayoutId id="2147483702" r:id="rId5"/>
    <p:sldLayoutId id="2147483714" r:id="rId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1F1E3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676619" y="730251"/>
            <a:ext cx="21033938" cy="183404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76619" y="2862470"/>
            <a:ext cx="21033938" cy="94914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9501158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08" r:id="rId1"/>
    <p:sldLayoutId id="2147483709" r:id="rId2"/>
    <p:sldLayoutId id="2147483710" r:id="rId3"/>
    <p:sldLayoutId id="2147483711" r:id="rId4"/>
  </p:sldLayoutIdLst>
  <p:txStyles>
    <p:titleStyle>
      <a:lvl1pPr algn="l" defTabSz="1828800" rtl="0" eaLnBrk="1" latinLnBrk="0" hangingPunct="1">
        <a:lnSpc>
          <a:spcPct val="90000"/>
        </a:lnSpc>
        <a:spcBef>
          <a:spcPct val="0"/>
        </a:spcBef>
        <a:buNone/>
        <a:defRPr sz="88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200" indent="-457200" algn="l" defTabSz="1828800" rtl="0" eaLnBrk="1" latinLnBrk="0" hangingPunct="1">
        <a:lnSpc>
          <a:spcPct val="90000"/>
        </a:lnSpc>
        <a:spcBef>
          <a:spcPts val="2000"/>
        </a:spcBef>
        <a:buFont typeface="Arial" panose="020B0604020202020204" pitchFamily="34" charset="0"/>
        <a:buChar char="•"/>
        <a:defRPr sz="5600" kern="1200">
          <a:solidFill>
            <a:schemeClr val="tx1"/>
          </a:solidFill>
          <a:latin typeface="+mn-lt"/>
          <a:ea typeface="+mn-ea"/>
          <a:cs typeface="+mn-cs"/>
        </a:defRPr>
      </a:lvl1pPr>
      <a:lvl2pPr marL="13716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4800" kern="1200">
          <a:solidFill>
            <a:schemeClr val="tx1"/>
          </a:solidFill>
          <a:latin typeface="+mn-lt"/>
          <a:ea typeface="+mn-ea"/>
          <a:cs typeface="+mn-cs"/>
        </a:defRPr>
      </a:lvl2pPr>
      <a:lvl3pPr marL="22860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4000" kern="1200">
          <a:solidFill>
            <a:schemeClr val="tx1"/>
          </a:solidFill>
          <a:latin typeface="+mn-lt"/>
          <a:ea typeface="+mn-ea"/>
          <a:cs typeface="+mn-cs"/>
        </a:defRPr>
      </a:lvl3pPr>
      <a:lvl4pPr marL="32004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41148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50292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9436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8580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7724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1pPr>
      <a:lvl2pPr marL="9144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2pPr>
      <a:lvl3pPr marL="18288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3pPr>
      <a:lvl4pPr marL="27432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36576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45720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4864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4008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3152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learn.microsoft.com/en-us/dotnet/core/whats-new/dotnet-10/overview" TargetMode="External"/><Relationship Id="rId7" Type="http://schemas.openxmlformats.org/officeDocument/2006/relationships/hyperlink" Target="https://aspire.dev/whats-new/aspire-13-1/" TargetMode="External"/><Relationship Id="rId2" Type="http://schemas.openxmlformats.org/officeDocument/2006/relationships/hyperlink" Target="https://get.dot.net/10" TargetMode="Externa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learn.microsoft.com/en-us/aspnet/core/release-notes/aspnetcore-10.0" TargetMode="External"/><Relationship Id="rId5" Type="http://schemas.openxmlformats.org/officeDocument/2006/relationships/hyperlink" Target="https://learn.microsoft.com/en-us/ef/core/what-is-new/ef-core-10.0/whatsnew" TargetMode="External"/><Relationship Id="rId4" Type="http://schemas.openxmlformats.org/officeDocument/2006/relationships/hyperlink" Target="https://learn.microsoft.com/en-us/dotnet/csharp/whats-new/csharp-14" TargetMode="Externa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BF2D443-CCBA-F493-BB9C-5979025923D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088058" y="1041400"/>
            <a:ext cx="12694204" cy="1828800"/>
          </a:xfrm>
        </p:spPr>
        <p:txBody>
          <a:bodyPr/>
          <a:lstStyle/>
          <a:p>
            <a:r>
              <a:rPr lang="en-US" dirty="0" err="1"/>
              <a:t>Whats</a:t>
            </a:r>
            <a:r>
              <a:rPr lang="en-US" dirty="0"/>
              <a:t> New in .NET 10 and C# 14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E57981F-227E-29FE-3B14-7FCCEA312221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353101" y="7660038"/>
            <a:ext cx="9844985" cy="1298431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en-US" sz="6000" dirty="0">
                <a:solidFill>
                  <a:srgbClr val="969696"/>
                </a:solidFill>
              </a:rPr>
              <a:t>Sergio Parra Guerra “PARRITA”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2CD60C1-77B1-2FFA-9756-CFBA146888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82262" y="-76006"/>
            <a:ext cx="7408609" cy="7408609"/>
          </a:xfrm>
          <a:prstGeom prst="rect">
            <a:avLst/>
          </a:prstGeom>
        </p:spPr>
      </p:pic>
      <p:pic>
        <p:nvPicPr>
          <p:cNvPr id="5" name="Imagen 2">
            <a:extLst>
              <a:ext uri="{FF2B5EF4-FFF2-40B4-BE49-F238E27FC236}">
                <a16:creationId xmlns:a16="http://schemas.microsoft.com/office/drawing/2014/main" id="{95F13726-2C3D-D7F7-91D0-53C65CACF0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3470" y="9687354"/>
            <a:ext cx="3428131" cy="1383121"/>
          </a:xfrm>
          <a:prstGeom prst="rect">
            <a:avLst/>
          </a:prstGeom>
        </p:spPr>
      </p:pic>
      <p:pic>
        <p:nvPicPr>
          <p:cNvPr id="6" name="Picture 16">
            <a:extLst>
              <a:ext uri="{FF2B5EF4-FFF2-40B4-BE49-F238E27FC236}">
                <a16:creationId xmlns:a16="http://schemas.microsoft.com/office/drawing/2014/main" id="{65292AAE-8551-3D51-FB3F-7FCEB7FD673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0319" y="9100180"/>
            <a:ext cx="3734025" cy="18462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592249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4D64D80-A126-C883-510E-26D4F2060F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6BB028E-210D-C2C4-FDAC-78E1617C29B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757376" y="6096225"/>
            <a:ext cx="9899845" cy="1289311"/>
          </a:xfrm>
        </p:spPr>
        <p:txBody>
          <a:bodyPr/>
          <a:lstStyle/>
          <a:p>
            <a:r>
              <a:rPr lang="en-US" b="1" dirty="0"/>
              <a:t>New in C# 14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DA93F0-C53A-19C9-3730-F7D10E2CC2FE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en-US" b="1">
                <a:solidFill>
                  <a:schemeClr val="bg2"/>
                </a:solidFill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32851602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AC71E6E-506D-8E06-6123-EF86F045ED06}"/>
              </a:ext>
            </a:extLst>
          </p:cNvPr>
          <p:cNvSpPr/>
          <p:nvPr/>
        </p:nvSpPr>
        <p:spPr>
          <a:xfrm>
            <a:off x="2377607" y="2069684"/>
            <a:ext cx="8353893" cy="1409075"/>
          </a:xfrm>
          <a:prstGeom prst="round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/>
              <a:t>Null-conditional assignment</a:t>
            </a:r>
            <a:endParaRPr lang="es-ES" sz="32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9DAEC0D6-7F18-A378-3BB7-C92DB8DE9208}"/>
              </a:ext>
            </a:extLst>
          </p:cNvPr>
          <p:cNvSpPr/>
          <p:nvPr/>
        </p:nvSpPr>
        <p:spPr>
          <a:xfrm>
            <a:off x="12639207" y="4292184"/>
            <a:ext cx="8353893" cy="1409075"/>
          </a:xfrm>
          <a:prstGeom prst="round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/>
              <a:t>User-defined compound assignment operators</a:t>
            </a:r>
            <a:endParaRPr lang="es-ES" sz="3200" dirty="0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D6C6662E-5AD3-2664-199D-FFD5FA545125}"/>
              </a:ext>
            </a:extLst>
          </p:cNvPr>
          <p:cNvSpPr/>
          <p:nvPr/>
        </p:nvSpPr>
        <p:spPr>
          <a:xfrm>
            <a:off x="2377606" y="4292184"/>
            <a:ext cx="8353893" cy="1409075"/>
          </a:xfrm>
          <a:prstGeom prst="round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/>
              <a:t>Partial events and constructors</a:t>
            </a:r>
            <a:endParaRPr lang="es-ES" sz="3200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27A0ED8B-01A7-E318-0DAF-8A427194AB6C}"/>
              </a:ext>
            </a:extLst>
          </p:cNvPr>
          <p:cNvSpPr/>
          <p:nvPr/>
        </p:nvSpPr>
        <p:spPr>
          <a:xfrm>
            <a:off x="12639207" y="2069684"/>
            <a:ext cx="8353893" cy="1409075"/>
          </a:xfrm>
          <a:prstGeom prst="round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/>
              <a:t>Field access in auto-properties</a:t>
            </a:r>
            <a:endParaRPr lang="es-ES" sz="3200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20E357C3-B200-B56C-9E45-245B05127D78}"/>
              </a:ext>
            </a:extLst>
          </p:cNvPr>
          <p:cNvSpPr/>
          <p:nvPr/>
        </p:nvSpPr>
        <p:spPr>
          <a:xfrm>
            <a:off x="2377606" y="6514684"/>
            <a:ext cx="8353893" cy="1409075"/>
          </a:xfrm>
          <a:prstGeom prst="round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/>
              <a:t>Extension members</a:t>
            </a:r>
            <a:endParaRPr lang="es-ES" sz="3200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A38E6E29-A359-4DDF-7728-0E50FAC8F8B6}"/>
              </a:ext>
            </a:extLst>
          </p:cNvPr>
          <p:cNvSpPr/>
          <p:nvPr/>
        </p:nvSpPr>
        <p:spPr>
          <a:xfrm>
            <a:off x="12639205" y="6514684"/>
            <a:ext cx="8353893" cy="1409075"/>
          </a:xfrm>
          <a:prstGeom prst="round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/>
              <a:t>Extension operators</a:t>
            </a:r>
            <a:endParaRPr lang="es-ES" sz="3200" dirty="0"/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9DB4C7B9-A3FA-65A6-1866-FF870C70347C}"/>
              </a:ext>
            </a:extLst>
          </p:cNvPr>
          <p:cNvSpPr/>
          <p:nvPr/>
        </p:nvSpPr>
        <p:spPr>
          <a:xfrm>
            <a:off x="2377605" y="8648284"/>
            <a:ext cx="8353893" cy="1409075"/>
          </a:xfrm>
          <a:prstGeom prst="round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/>
              <a:t>Unbound generic types in “</a:t>
            </a:r>
            <a:r>
              <a:rPr lang="en-US" sz="3200" dirty="0" err="1"/>
              <a:t>nameof</a:t>
            </a:r>
            <a:r>
              <a:rPr lang="en-US" sz="3200" dirty="0"/>
              <a:t>()”</a:t>
            </a:r>
            <a:endParaRPr lang="es-ES" sz="3200" dirty="0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C56AB685-A61C-2909-4324-E34BA63EABE3}"/>
              </a:ext>
            </a:extLst>
          </p:cNvPr>
          <p:cNvSpPr/>
          <p:nvPr/>
        </p:nvSpPr>
        <p:spPr>
          <a:xfrm>
            <a:off x="12639206" y="8648284"/>
            <a:ext cx="8353893" cy="1409075"/>
          </a:xfrm>
          <a:prstGeom prst="round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/>
              <a:t>Simple lambda parameters with modifiers</a:t>
            </a:r>
            <a:endParaRPr lang="es-ES" sz="3200" dirty="0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4769A4FE-DFD8-0675-26C1-8827B1C3C158}"/>
              </a:ext>
            </a:extLst>
          </p:cNvPr>
          <p:cNvSpPr/>
          <p:nvPr/>
        </p:nvSpPr>
        <p:spPr>
          <a:xfrm>
            <a:off x="7508406" y="10629484"/>
            <a:ext cx="8353893" cy="1409075"/>
          </a:xfrm>
          <a:prstGeom prst="round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/>
              <a:t>Streamline Span&lt;T&gt; Usage with Implicit Conversions</a:t>
            </a:r>
            <a:endParaRPr lang="es-ES" sz="3200" dirty="0"/>
          </a:p>
        </p:txBody>
      </p:sp>
    </p:spTree>
    <p:extLst>
      <p:ext uri="{BB962C8B-B14F-4D97-AF65-F5344CB8AC3E}">
        <p14:creationId xmlns:p14="http://schemas.microsoft.com/office/powerpoint/2010/main" val="27644862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3EB95C8-0BA6-9F1F-3439-5926453368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4C90D896-23B7-D850-DFE2-D532153132D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757376" y="6096225"/>
            <a:ext cx="11784124" cy="1289311"/>
          </a:xfrm>
        </p:spPr>
        <p:txBody>
          <a:bodyPr/>
          <a:lstStyle/>
          <a:p>
            <a:r>
              <a:rPr lang="en-US" b="1" dirty="0"/>
              <a:t>New in EF Core 10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EB0A1D8-D729-BE40-2C85-395EBF26C1D5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1039104" y="6096226"/>
            <a:ext cx="1718271" cy="1289312"/>
          </a:xfrm>
        </p:spPr>
        <p:txBody>
          <a:bodyPr/>
          <a:lstStyle/>
          <a:p>
            <a:r>
              <a:rPr lang="en-US" b="1" dirty="0">
                <a:solidFill>
                  <a:schemeClr val="bg2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31662143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D0A90E-0C24-A62E-CEEE-F3FB4E6CF1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BDE7015E-25ED-730F-55CD-27716049027A}"/>
              </a:ext>
            </a:extLst>
          </p:cNvPr>
          <p:cNvSpPr/>
          <p:nvPr/>
        </p:nvSpPr>
        <p:spPr>
          <a:xfrm>
            <a:off x="2377607" y="2069684"/>
            <a:ext cx="8353893" cy="1409075"/>
          </a:xfrm>
          <a:prstGeom prst="round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/>
              <a:t>Vector search support</a:t>
            </a:r>
            <a:endParaRPr lang="es-ES" sz="32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AF0007C1-EFBA-6C1B-B135-58EF008A30E5}"/>
              </a:ext>
            </a:extLst>
          </p:cNvPr>
          <p:cNvSpPr/>
          <p:nvPr/>
        </p:nvSpPr>
        <p:spPr>
          <a:xfrm>
            <a:off x="12639207" y="4292184"/>
            <a:ext cx="8353893" cy="1409075"/>
          </a:xfrm>
          <a:prstGeom prst="round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/>
              <a:t>Full-text and hybrid search support</a:t>
            </a:r>
            <a:endParaRPr lang="es-ES" sz="3200" dirty="0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9EAED3B0-47E1-F8A5-E172-046D2E1F4E46}"/>
              </a:ext>
            </a:extLst>
          </p:cNvPr>
          <p:cNvSpPr/>
          <p:nvPr/>
        </p:nvSpPr>
        <p:spPr>
          <a:xfrm>
            <a:off x="2377606" y="4292184"/>
            <a:ext cx="8353893" cy="1409075"/>
          </a:xfrm>
          <a:prstGeom prst="round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/>
              <a:t>Custom default constraint names</a:t>
            </a:r>
            <a:endParaRPr lang="es-ES" sz="3200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F7A6213-0392-9685-482C-FA233B2EE481}"/>
              </a:ext>
            </a:extLst>
          </p:cNvPr>
          <p:cNvSpPr/>
          <p:nvPr/>
        </p:nvSpPr>
        <p:spPr>
          <a:xfrm>
            <a:off x="12639207" y="2069684"/>
            <a:ext cx="8353893" cy="1409075"/>
          </a:xfrm>
          <a:prstGeom prst="round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/>
              <a:t>JSON type support</a:t>
            </a:r>
            <a:endParaRPr lang="es-ES" sz="3200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494673DB-E8B0-9C62-09A0-DE43B7F70AF0}"/>
              </a:ext>
            </a:extLst>
          </p:cNvPr>
          <p:cNvSpPr/>
          <p:nvPr/>
        </p:nvSpPr>
        <p:spPr>
          <a:xfrm>
            <a:off x="2377606" y="6514684"/>
            <a:ext cx="8353893" cy="1409075"/>
          </a:xfrm>
          <a:prstGeom prst="round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/>
              <a:t>Complex types:  Table Splitting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DB9A407F-F129-F0BA-0DA2-2A4F8F8B8998}"/>
              </a:ext>
            </a:extLst>
          </p:cNvPr>
          <p:cNvSpPr/>
          <p:nvPr/>
        </p:nvSpPr>
        <p:spPr>
          <a:xfrm>
            <a:off x="12639205" y="6514684"/>
            <a:ext cx="8353893" cy="1409075"/>
          </a:xfrm>
          <a:prstGeom prst="round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/>
              <a:t>Complex types: Mapping to JSON</a:t>
            </a:r>
            <a:endParaRPr lang="es-ES" sz="3200" dirty="0"/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6AEAB247-F8B3-D9B1-C28A-EECE6949CC38}"/>
              </a:ext>
            </a:extLst>
          </p:cNvPr>
          <p:cNvSpPr/>
          <p:nvPr/>
        </p:nvSpPr>
        <p:spPr>
          <a:xfrm>
            <a:off x="2377605" y="8648284"/>
            <a:ext cx="8353893" cy="1409075"/>
          </a:xfrm>
          <a:prstGeom prst="round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/>
              <a:t>Support for the .NET 10 </a:t>
            </a:r>
            <a:r>
              <a:rPr lang="en-US" sz="3200" dirty="0" err="1"/>
              <a:t>LeftJoin</a:t>
            </a:r>
            <a:r>
              <a:rPr lang="en-US" sz="3200" dirty="0"/>
              <a:t> and </a:t>
            </a:r>
            <a:r>
              <a:rPr lang="en-US" sz="3200" dirty="0" err="1"/>
              <a:t>RightJoin</a:t>
            </a:r>
            <a:r>
              <a:rPr lang="en-US" sz="3200" dirty="0"/>
              <a:t> operators</a:t>
            </a:r>
            <a:endParaRPr lang="es-ES" sz="3200" dirty="0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92EF2266-86D1-3103-B65E-C28726A52726}"/>
              </a:ext>
            </a:extLst>
          </p:cNvPr>
          <p:cNvSpPr/>
          <p:nvPr/>
        </p:nvSpPr>
        <p:spPr>
          <a:xfrm>
            <a:off x="12639206" y="8648284"/>
            <a:ext cx="8353893" cy="1409075"/>
          </a:xfrm>
          <a:prstGeom prst="round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/>
              <a:t>More consistent ordering for split queries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9F2DC58D-18E9-8298-69D9-9096B6B80B8D}"/>
              </a:ext>
            </a:extLst>
          </p:cNvPr>
          <p:cNvSpPr/>
          <p:nvPr/>
        </p:nvSpPr>
        <p:spPr>
          <a:xfrm>
            <a:off x="7660806" y="10692984"/>
            <a:ext cx="8353893" cy="1409075"/>
          </a:xfrm>
          <a:prstGeom prst="round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/>
              <a:t>Named query filters</a:t>
            </a:r>
            <a:endParaRPr lang="es-ES" sz="3200" dirty="0"/>
          </a:p>
        </p:txBody>
      </p:sp>
    </p:spTree>
    <p:extLst>
      <p:ext uri="{BB962C8B-B14F-4D97-AF65-F5344CB8AC3E}">
        <p14:creationId xmlns:p14="http://schemas.microsoft.com/office/powerpoint/2010/main" val="2491279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154FB7-C4A9-5341-8FD8-2C4C3372D7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FAD794D-CE74-91BC-80D8-2828096DB1C6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r>
              <a:rPr lang="en-US" b="1" dirty="0"/>
              <a:t>New Features of C# 14 </a:t>
            </a:r>
          </a:p>
          <a:p>
            <a:r>
              <a:rPr lang="en-US" b="1" dirty="0"/>
              <a:t>New Features of EF Core 10</a:t>
            </a:r>
          </a:p>
        </p:txBody>
      </p:sp>
      <p:pic>
        <p:nvPicPr>
          <p:cNvPr id="5" name="Picture Placeholder 4">
            <a:extLst>
              <a:ext uri="{FF2B5EF4-FFF2-40B4-BE49-F238E27FC236}">
                <a16:creationId xmlns:a16="http://schemas.microsoft.com/office/drawing/2014/main" id="{E7884728-8A53-3E57-C3A8-660C9807A0BD}"/>
              </a:ext>
            </a:extLst>
          </p:cNvPr>
          <p:cNvPicPr>
            <a:picLocks noGrp="1" noChangeAspect="1"/>
          </p:cNvPicPr>
          <p:nvPr>
            <p:ph type="pic" sz="quarter" idx="28"/>
          </p:nvPr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70956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03C556-C713-401F-C0B4-769EED1FD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Resources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C89F16-A043-E8FC-3332-1668827D2B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b="1" dirty="0"/>
              <a:t>Try out .NET 10 today! </a:t>
            </a:r>
            <a:r>
              <a:rPr lang="en-US" b="1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get.dot.net/10</a:t>
            </a:r>
            <a:endParaRPr lang="en-US" b="1" dirty="0"/>
          </a:p>
          <a:p>
            <a:pPr marL="0" indent="0">
              <a:buNone/>
            </a:pPr>
            <a:r>
              <a:rPr lang="en-US" b="1" dirty="0"/>
              <a:t>What’s new in .NET 10: </a:t>
            </a:r>
            <a:r>
              <a:rPr lang="en-US" b="1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https://learn.microsoft.com/en-us/dotnet/core/whats-new/dotnet-10/overview</a:t>
            </a:r>
            <a:endParaRPr lang="en-US" b="1" dirty="0"/>
          </a:p>
          <a:p>
            <a:pPr marL="0" indent="0">
              <a:buNone/>
            </a:pPr>
            <a:r>
              <a:rPr lang="en-US" b="1" dirty="0"/>
              <a:t>What's new in C# 14: </a:t>
            </a:r>
            <a:r>
              <a:rPr lang="en-US" b="1" dirty="0">
                <a:hlinkClick r:id="rId4"/>
              </a:rPr>
              <a:t>https://learn.microsoft.com/en-us/dotnet/csharp/whats-new/csharp-14</a:t>
            </a:r>
            <a:endParaRPr lang="en-US" b="1" dirty="0"/>
          </a:p>
          <a:p>
            <a:pPr marL="0" indent="0">
              <a:buNone/>
            </a:pPr>
            <a:r>
              <a:rPr lang="en-US" b="1" dirty="0"/>
              <a:t>What's New in EF Core 10: </a:t>
            </a:r>
            <a:r>
              <a:rPr lang="en-US" b="1" dirty="0">
                <a:hlinkClick r:id="rId5"/>
              </a:rPr>
              <a:t>https://learn.microsoft.com/en-us/ef/core/what-is-new/ef-core-10.0/whatsnew</a:t>
            </a:r>
            <a:endParaRPr lang="en-US" b="1" dirty="0"/>
          </a:p>
          <a:p>
            <a:pPr marL="0" indent="0">
              <a:buNone/>
            </a:pPr>
            <a:r>
              <a:rPr lang="en-US" b="1" dirty="0"/>
              <a:t>What's new in ASP.NET Core in .NET 10: </a:t>
            </a:r>
            <a:r>
              <a:rPr lang="en-US" b="1" dirty="0">
                <a:hlinkClick r:id="rId6"/>
              </a:rPr>
              <a:t>https://learn.microsoft.com/en-us/aspnet/core/release-notes/aspnetcore-10.0</a:t>
            </a:r>
            <a:endParaRPr lang="en-US" b="1" dirty="0"/>
          </a:p>
          <a:p>
            <a:pPr marL="0" indent="0">
              <a:buNone/>
            </a:pPr>
            <a:r>
              <a:rPr lang="en-US" b="1" dirty="0"/>
              <a:t>What's new in Aspire 13: </a:t>
            </a:r>
            <a:r>
              <a:rPr lang="en-US" b="1" dirty="0">
                <a:hlinkClick r:id="rId7"/>
              </a:rPr>
              <a:t>https://aspire.dev/whats-new/aspire-13-1/</a:t>
            </a:r>
            <a:endParaRPr lang="en-US" b="1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57938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4966A5-9F3E-8EDF-88DE-A6DB0B8C28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895D149-24D8-DDE9-B8F3-99BCDF591E0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b="1" spc="-400">
                <a:solidFill>
                  <a:schemeClr val="bg1"/>
                </a:solidFill>
              </a:rPr>
              <a:t>Thank you</a:t>
            </a:r>
            <a:endParaRPr lang="en-US" b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33806821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Custom 68">
      <a:dk1>
        <a:srgbClr val="000000"/>
      </a:dk1>
      <a:lt1>
        <a:srgbClr val="FEFFFE"/>
      </a:lt1>
      <a:dk2>
        <a:srgbClr val="1F1E32"/>
      </a:dk2>
      <a:lt2>
        <a:srgbClr val="A5A6A6"/>
      </a:lt2>
      <a:accent1>
        <a:srgbClr val="5728DC"/>
      </a:accent1>
      <a:accent2>
        <a:srgbClr val="0B6BFF"/>
      </a:accent2>
      <a:accent3>
        <a:srgbClr val="D600AA"/>
      </a:accent3>
      <a:accent4>
        <a:srgbClr val="EEEAFA"/>
      </a:accent4>
      <a:accent5>
        <a:srgbClr val="B9AAEE"/>
      </a:accent5>
      <a:accent6>
        <a:srgbClr val="9DC3FF"/>
      </a:accent6>
      <a:hlink>
        <a:srgbClr val="800066"/>
      </a:hlink>
      <a:folHlink>
        <a:srgbClr val="EF99DD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2_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538D9D"/>
      </a:hlink>
      <a:folHlink>
        <a:srgbClr val="A5738E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3A418E6B-C5F0-4B95-8D77-61E3EF3B5DF5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f42aa342-8706-4288-bd11-ebb85995028c}" enabled="1" method="Privileged" siteId="{72f988bf-86f1-41af-91ab-2d7cd011db47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521</TotalTime>
  <Words>335</Words>
  <Application>Microsoft Office PowerPoint</Application>
  <PresentationFormat>Custom</PresentationFormat>
  <Paragraphs>44</Paragraphs>
  <Slides>8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8</vt:i4>
      </vt:variant>
    </vt:vector>
  </HeadingPairs>
  <TitlesOfParts>
    <vt:vector size="17" baseType="lpstr">
      <vt:lpstr>Aptos</vt:lpstr>
      <vt:lpstr>Aptos Display</vt:lpstr>
      <vt:lpstr>Arial</vt:lpstr>
      <vt:lpstr>Poppins</vt:lpstr>
      <vt:lpstr>Segoe UI</vt:lpstr>
      <vt:lpstr>Segoe UI Variable Display</vt:lpstr>
      <vt:lpstr>Segoe UI Variable Display Semibold</vt:lpstr>
      <vt:lpstr>1_Office Theme</vt:lpstr>
      <vt:lpstr>2_Office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Resources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Sergio Parra Guerra</dc:creator>
  <cp:lastModifiedBy>Sergio Parra Guerra</cp:lastModifiedBy>
  <cp:revision>12</cp:revision>
  <dcterms:created xsi:type="dcterms:W3CDTF">2026-01-07T18:17:04Z</dcterms:created>
  <dcterms:modified xsi:type="dcterms:W3CDTF">2026-02-12T09:10:10Z</dcterms:modified>
</cp:coreProperties>
</file>