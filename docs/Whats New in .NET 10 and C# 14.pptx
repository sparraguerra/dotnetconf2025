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  <p:sldMasterId id="2147483707" r:id="rId2"/>
  </p:sldMasterIdLst>
  <p:notesMasterIdLst>
    <p:notesMasterId r:id="rId15"/>
  </p:notesMasterIdLst>
  <p:sldIdLst>
    <p:sldId id="398" r:id="rId3"/>
    <p:sldId id="2147483622" r:id="rId4"/>
    <p:sldId id="2147479619" r:id="rId5"/>
    <p:sldId id="2147483624" r:id="rId6"/>
    <p:sldId id="2147479613" r:id="rId7"/>
    <p:sldId id="421" r:id="rId8"/>
    <p:sldId id="2147483630" r:id="rId9"/>
    <p:sldId id="2147483629" r:id="rId10"/>
    <p:sldId id="2147483631" r:id="rId11"/>
    <p:sldId id="2147483627" r:id="rId12"/>
    <p:sldId id="2147479636" r:id="rId13"/>
    <p:sldId id="2147483625" r:id="rId14"/>
  </p:sldIdLst>
  <p:sldSz cx="24387175" cy="13716000"/>
  <p:notesSz cx="13716000" cy="243871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B3FA"/>
    <a:srgbClr val="3D8AFF"/>
    <a:srgbClr val="C1BCF3"/>
    <a:srgbClr val="1E0756"/>
    <a:srgbClr val="0657B2"/>
    <a:srgbClr val="EEEAFA"/>
    <a:srgbClr val="1F1E32"/>
    <a:srgbClr val="F4B1C9"/>
    <a:srgbClr val="EF99DD"/>
    <a:srgbClr val="D600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1119B4-3FC9-5049-9135-516B1A28D263}" v="37" dt="2025-11-10T13:33:33.6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/>
    <p:restoredTop sz="90000"/>
  </p:normalViewPr>
  <p:slideViewPr>
    <p:cSldViewPr snapToGrid="0">
      <p:cViewPr varScale="1">
        <p:scale>
          <a:sx n="50" d="100"/>
          <a:sy n="50" d="100"/>
        </p:scale>
        <p:origin x="43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649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Speaker: Mike</a:t>
            </a:r>
          </a:p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D91FF38-03BF-E345-8DFA-92A7B1D66F0D}" type="datetime8">
              <a:rPr lang="en-US" smtClean="0"/>
              <a:t>2/10/2026 5:43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6674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ensure that .NET 10 is the fastest release of ASP.NET Core ever:</a:t>
            </a:r>
          </a:p>
          <a:p>
            <a:pPr marL="342900" marR="0" lvl="0" indent="-342900">
              <a:lnSpc>
                <a:spcPct val="115000"/>
              </a:lnSpc>
              <a:buFont typeface="Aptos" panose="020B0004020202020204" pitchFamily="34" charset="0"/>
              <a:buChar char="-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We’re updating Kestrel’s memory pool so that it can release memory</a:t>
            </a:r>
          </a:p>
          <a:p>
            <a:pPr marL="342900" marR="0" lvl="0" indent="-342900">
              <a:lnSpc>
                <a:spcPct val="115000"/>
              </a:lnSpc>
              <a:buFont typeface="Aptos" panose="020B0004020202020204" pitchFamily="34" charset="0"/>
              <a:buChar char="-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We’re improving minimal API JSON deserialization performance using the new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PIpeReader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support in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System.Text.Json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D91FF38-03BF-E345-8DFA-92A7B1D66F0D}" type="datetime8">
              <a:rPr lang="en-US" smtClean="0"/>
              <a:t>2/10/2026 5:30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686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8A075-D437-ADB7-CB6C-E9C757F51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707D38-F3A2-03E2-F10C-A3E716C76F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9A58C9-94CB-0CED-376B-E14B24E06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ensure that .NET 10 is the fastest release of ASP.NET Core ever:</a:t>
            </a:r>
          </a:p>
          <a:p>
            <a:pPr marL="342900" marR="0" lvl="0" indent="-342900">
              <a:lnSpc>
                <a:spcPct val="115000"/>
              </a:lnSpc>
              <a:buFont typeface="Aptos" panose="020B0004020202020204" pitchFamily="34" charset="0"/>
              <a:buChar char="-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We’re updating Kestrel’s memory pool so that it can release memory</a:t>
            </a:r>
          </a:p>
          <a:p>
            <a:pPr marL="342900" marR="0" lvl="0" indent="-342900">
              <a:lnSpc>
                <a:spcPct val="115000"/>
              </a:lnSpc>
              <a:buFont typeface="Aptos" panose="020B0004020202020204" pitchFamily="34" charset="0"/>
              <a:buChar char="-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We’re improving minimal API JSON deserialization performance using the new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PIpeReader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support in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System.Text.Json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AE2A959-3DED-5931-08B0-FBEDB1FFBDD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6A5F0-5108-ABD1-26BD-A98FBB52F76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FED70E0-7955-EAD9-0D10-B8C4F6EB2C3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D91FF38-03BF-E345-8DFA-92A7B1D66F0D}" type="datetime8">
              <a:rPr lang="en-US" smtClean="0"/>
              <a:t>2/10/2026 5:30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CA170D-9225-83FB-E0E9-07C639D803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183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F055B-EBF5-A17E-F0A2-2EC822758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1D74F-CA5E-E4C1-5BDB-D2BE440C33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B1DF3-B5E5-5702-9BC2-2E7D7240C8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ensure that .NET 10 is the fastest release of ASP.NET Core ever:</a:t>
            </a:r>
          </a:p>
          <a:p>
            <a:pPr marL="342900" marR="0" lvl="0" indent="-342900">
              <a:lnSpc>
                <a:spcPct val="115000"/>
              </a:lnSpc>
              <a:buFont typeface="Aptos" panose="020B0004020202020204" pitchFamily="34" charset="0"/>
              <a:buChar char="-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We’re updating Kestrel’s memory pool so that it can release memory</a:t>
            </a:r>
          </a:p>
          <a:p>
            <a:pPr marL="342900" marR="0" lvl="0" indent="-342900">
              <a:lnSpc>
                <a:spcPct val="115000"/>
              </a:lnSpc>
              <a:buFont typeface="Aptos" panose="020B0004020202020204" pitchFamily="34" charset="0"/>
              <a:buChar char="-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We’re improving minimal API JSON deserialization performance using the new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PIpeReader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support in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System.Text.Json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4130DD4-37A1-289B-33A7-EF32349EA77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EB900-DD0A-2219-92EB-586E7AE14E1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7942D0E-006B-8AE6-E89C-C08F204D696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D91FF38-03BF-E345-8DFA-92A7B1D66F0D}" type="datetime8">
              <a:rPr lang="en-US" smtClean="0"/>
              <a:t>2/10/2026 5:30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AA36F-8CE0-20F2-BE32-2A35643DA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042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Also demonstrates OpenAPI 3.1, XML doc comments, </a:t>
            </a:r>
          </a:p>
        </p:txBody>
      </p:sp>
    </p:spTree>
    <p:extLst>
      <p:ext uri="{BB962C8B-B14F-4D97-AF65-F5344CB8AC3E}">
        <p14:creationId xmlns:p14="http://schemas.microsoft.com/office/powerpoint/2010/main" val="3353939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DC6B9-AE53-E4E0-67B2-645E4A4B7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7D470-B3BA-7972-020A-6939463FA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8788" y="3048000"/>
            <a:ext cx="14633576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C6DD8-2AFA-9CB2-BCA7-E881885AE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764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gradFill>
          <a:gsLst>
            <a:gs pos="0">
              <a:srgbClr val="0657B2"/>
            </a:gs>
            <a:gs pos="100000">
              <a:srgbClr val="1E075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7B5EEFF-2BB5-A52C-260D-554CFB7069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7175" cy="2648295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2202B6-F7AE-4B3E-3EEE-7AD38C243F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8058" y="1041400"/>
            <a:ext cx="11658600" cy="18288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5000"/>
              </a:lnSpc>
              <a:buNone/>
              <a:defRPr lang="en-US" sz="15000" b="1" i="0" kern="0" spc="-75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6E4B5D0-1A1D-7256-DDEF-FFD34D9EC1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8058" y="2921000"/>
            <a:ext cx="11658600" cy="18288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5000"/>
              </a:lnSpc>
              <a:buNone/>
              <a:defRPr lang="en-US" sz="15000" b="0" i="0" kern="0" spc="-75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58028D-48E9-F953-AF99-287F28B4BC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70317" y="1041400"/>
            <a:ext cx="1828800" cy="1828800"/>
          </a:xfrm>
          <a:prstGeom prst="rect">
            <a:avLst/>
          </a:prstGeom>
        </p:spPr>
      </p:pic>
      <p:pic>
        <p:nvPicPr>
          <p:cNvPr id="3" name="Picture 2" descr="A purple object with light beams">
            <a:extLst>
              <a:ext uri="{FF2B5EF4-FFF2-40B4-BE49-F238E27FC236}">
                <a16:creationId xmlns:a16="http://schemas.microsoft.com/office/drawing/2014/main" id="{B95DBEA6-A735-B2EF-582C-219438B2AB0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322730" y="3835400"/>
            <a:ext cx="24387175" cy="955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952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C24AF06-9E24-29B8-6CAD-503F1F6D1B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5" y="1066800"/>
            <a:ext cx="7010400" cy="9398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6800"/>
              </a:lnSpc>
              <a:buNone/>
              <a:defRPr lang="en-US" sz="6000" b="1" i="0" kern="0" spc="-12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CC4C3579-39BD-FD7E-6A30-B13AA438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5" y="1930400"/>
            <a:ext cx="7010400" cy="9398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6800"/>
              </a:lnSpc>
              <a:buNone/>
              <a:defRPr lang="en-US" sz="6000" b="0" i="0" kern="0" spc="-12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37FAA54B-2E67-1405-41E1-8BC64A2278D6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9359160" y="1104900"/>
            <a:ext cx="13887450" cy="11506200"/>
          </a:xfrm>
          <a:prstGeom prst="roundRect">
            <a:avLst>
              <a:gd name="adj" fmla="val 3505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97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FDB64B77-E38D-1ACA-5A15-6809BD7C67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23701" y="4219279"/>
            <a:ext cx="7010400" cy="189009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6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6000" b="0" i="0" kern="0" spc="-120">
                <a:solidFill>
                  <a:schemeClr val="bg1"/>
                </a:solidFill>
                <a:latin typeface="Poppins" pitchFamily="2" charset="77"/>
                <a:ea typeface="Segoe UI Variable Display Bold" pitchFamily="34" charset="-122"/>
                <a:cs typeface="Segoe UI Variable Display Bold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6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0" cap="none" spc="-12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  <a:t>GitHub Copilot </a:t>
            </a:r>
            <a:br>
              <a:rPr kumimoji="0" lang="en-US" sz="6000" b="1" i="0" u="none" strike="noStrike" kern="0" cap="none" spc="-12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</a:br>
            <a:r>
              <a:rPr kumimoji="0" lang="en-US" sz="6000" b="1" i="0" u="none" strike="noStrike" kern="0" cap="none" spc="-12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  <a:t>app modernization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D7D85207-8BBB-CCE1-CB12-F932B4FFD4B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44175" y="1143000"/>
            <a:ext cx="12687300" cy="11315700"/>
          </a:xfrm>
          <a:prstGeom prst="roundRect">
            <a:avLst>
              <a:gd name="adj" fmla="val 3536"/>
            </a:avLst>
          </a:prstGeom>
          <a:noFill/>
          <a:ln w="38100">
            <a:gradFill>
              <a:gsLst>
                <a:gs pos="0">
                  <a:schemeClr val="accent3"/>
                </a:gs>
                <a:gs pos="32000">
                  <a:schemeClr val="accent6"/>
                </a:gs>
                <a:gs pos="65000">
                  <a:srgbClr val="8853F0"/>
                </a:gs>
                <a:gs pos="100000">
                  <a:schemeClr val="accent1"/>
                </a:gs>
              </a:gsLst>
              <a:lin ang="3000000" scaled="0"/>
            </a:gradFill>
          </a:ln>
          <a:effectLst>
            <a:glow rad="254000">
              <a:schemeClr val="accent4">
                <a:alpha val="9137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 lang="en-US" sz="1800" b="0" i="0" dirty="0">
                <a:latin typeface="Poppins" pitchFamily="2" charset="77"/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E21DE6-35C9-049F-DAB0-6C145F3846EB}"/>
              </a:ext>
            </a:extLst>
          </p:cNvPr>
          <p:cNvSpPr txBox="1"/>
          <p:nvPr userDrawn="1"/>
        </p:nvSpPr>
        <p:spPr>
          <a:xfrm>
            <a:off x="1123701" y="974035"/>
            <a:ext cx="287450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>
                <a:solidFill>
                  <a:schemeClr val="bg1"/>
                </a:solidFill>
              </a:rPr>
              <a:t>DEMO</a:t>
            </a:r>
            <a:endParaRPr lang="en-US" sz="4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439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018E0206-ABFD-233B-CA82-D4589F7C8D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7377" y="6096225"/>
            <a:ext cx="7010400" cy="128931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0800"/>
              </a:lnSpc>
              <a:buNone/>
              <a:defRPr lang="en-US" sz="10000" b="0" i="0" kern="0" spc="-12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10000" kern="0" spc="-40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Section title</a:t>
            </a:r>
            <a:endParaRPr lang="en-US" sz="10000">
              <a:solidFill>
                <a:schemeClr val="bg1"/>
              </a:solidFill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3293E78D-709C-33A8-2CDF-C6266EB45D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39105" y="6096226"/>
            <a:ext cx="1553370" cy="12893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0800"/>
              </a:lnSpc>
              <a:buNone/>
              <a:defRPr lang="en-US" sz="10000" b="0" i="0" kern="0" spc="-400" dirty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0000" kern="0" spc="-40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01</a:t>
            </a:r>
            <a:endParaRPr lang="en-US"/>
          </a:p>
        </p:txBody>
      </p:sp>
      <p:pic>
        <p:nvPicPr>
          <p:cNvPr id="7" name="Picture 6" descr="A cartoon robot with a black background&#10;&#10;AI-generated content may be incorrect.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21500" y="8761413"/>
            <a:ext cx="4383087" cy="438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6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1DA0781-BBE4-E3D7-52FC-37514CB117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108" y="6078642"/>
            <a:ext cx="7010400" cy="128931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0800"/>
              </a:lnSpc>
              <a:buNone/>
              <a:defRPr lang="en-US" sz="10000" b="0" i="0" kern="0" spc="-120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10000" kern="0" spc="-40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Thank you</a:t>
            </a:r>
            <a:endParaRPr lang="en-US" sz="10000">
              <a:solidFill>
                <a:schemeClr val="bg1"/>
              </a:solidFill>
            </a:endParaRPr>
          </a:p>
        </p:txBody>
      </p:sp>
      <p:pic>
        <p:nvPicPr>
          <p:cNvPr id="15" name="Picture 14" descr="A purple square object with white text&#10;&#10;AI-generated content may be incorrect.">
            <a:extLst>
              <a:ext uri="{FF2B5EF4-FFF2-40B4-BE49-F238E27FC236}">
                <a16:creationId xmlns:a16="http://schemas.microsoft.com/office/drawing/2014/main" id="{93B04985-6D98-3A22-ECB5-A16BB5BB94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9175" y="186690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53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619" y="2882347"/>
            <a:ext cx="21033938" cy="10103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52734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618" y="2923067"/>
            <a:ext cx="10364549" cy="10062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6008" y="2923069"/>
            <a:ext cx="10364549" cy="100626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2612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94758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4902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477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7" r:id="rId2"/>
    <p:sldLayoutId id="2147483713" r:id="rId3"/>
    <p:sldLayoutId id="2147483701" r:id="rId4"/>
    <p:sldLayoutId id="2147483702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F1E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619" y="730251"/>
            <a:ext cx="21033938" cy="18340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619" y="2862470"/>
            <a:ext cx="21033938" cy="9491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50115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core/whats-new/dotnet-10/overview" TargetMode="External"/><Relationship Id="rId7" Type="http://schemas.openxmlformats.org/officeDocument/2006/relationships/hyperlink" Target="https://aspire.dev/whats-new/aspire-13-1/" TargetMode="External"/><Relationship Id="rId2" Type="http://schemas.openxmlformats.org/officeDocument/2006/relationships/hyperlink" Target="https://get.dot.net/10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learn.microsoft.com/en-us/aspnet/core/release-notes/aspnetcore-10.0" TargetMode="External"/><Relationship Id="rId5" Type="http://schemas.openxmlformats.org/officeDocument/2006/relationships/hyperlink" Target="https://learn.microsoft.com/en-us/ef/core/what-is-new/ef-core-10.0/whatsnew" TargetMode="External"/><Relationship Id="rId4" Type="http://schemas.openxmlformats.org/officeDocument/2006/relationships/hyperlink" Target="https://learn.microsoft.com/en-us/dotnet/csharp/whats-new/csharp-14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F2D443-CCBA-F493-BB9C-5979025923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88058" y="1041400"/>
            <a:ext cx="12694204" cy="1828800"/>
          </a:xfrm>
        </p:spPr>
        <p:txBody>
          <a:bodyPr/>
          <a:lstStyle/>
          <a:p>
            <a:r>
              <a:rPr lang="en-US" dirty="0" err="1"/>
              <a:t>Whats</a:t>
            </a:r>
            <a:r>
              <a:rPr lang="en-US" dirty="0"/>
              <a:t> New in .NET 10 and C# 14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57981F-227E-29FE-3B14-7FCCEA3122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53101" y="7660038"/>
            <a:ext cx="9844985" cy="129843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969696"/>
                </a:solidFill>
              </a:rPr>
              <a:t>Sergio Parra Guerra “PARRITA”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CD60C1-77B1-2FFA-9756-CFBA14688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2262" y="-76006"/>
            <a:ext cx="7408609" cy="7408609"/>
          </a:xfrm>
          <a:prstGeom prst="rect">
            <a:avLst/>
          </a:prstGeom>
        </p:spPr>
      </p:pic>
      <p:pic>
        <p:nvPicPr>
          <p:cNvPr id="5" name="Imagen 2">
            <a:extLst>
              <a:ext uri="{FF2B5EF4-FFF2-40B4-BE49-F238E27FC236}">
                <a16:creationId xmlns:a16="http://schemas.microsoft.com/office/drawing/2014/main" id="{95F13726-2C3D-D7F7-91D0-53C65CACF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470" y="9687354"/>
            <a:ext cx="3428131" cy="1383121"/>
          </a:xfrm>
          <a:prstGeom prst="rect">
            <a:avLst/>
          </a:prstGeom>
        </p:spPr>
      </p:pic>
      <p:pic>
        <p:nvPicPr>
          <p:cNvPr id="6" name="Picture 16">
            <a:extLst>
              <a:ext uri="{FF2B5EF4-FFF2-40B4-BE49-F238E27FC236}">
                <a16:creationId xmlns:a16="http://schemas.microsoft.com/office/drawing/2014/main" id="{65292AAE-8551-3D51-FB3F-7FCEB7FD6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319" y="9100180"/>
            <a:ext cx="3734025" cy="184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922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D64D80-A126-C883-510E-26D4F2060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BB028E-210D-C2C4-FDAC-78E1617C29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57376" y="6096225"/>
            <a:ext cx="9899845" cy="1289311"/>
          </a:xfrm>
        </p:spPr>
        <p:txBody>
          <a:bodyPr/>
          <a:lstStyle/>
          <a:p>
            <a:r>
              <a:rPr lang="en-US" b="1" dirty="0"/>
              <a:t>New in C# 14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A93F0-C53A-19C9-3730-F7D10E2CC2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b="1">
                <a:solidFill>
                  <a:schemeClr val="bg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85160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AC71E6E-506D-8E06-6123-EF86F045ED06}"/>
              </a:ext>
            </a:extLst>
          </p:cNvPr>
          <p:cNvSpPr/>
          <p:nvPr/>
        </p:nvSpPr>
        <p:spPr>
          <a:xfrm>
            <a:off x="2377607" y="2069684"/>
            <a:ext cx="8353893" cy="1409075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Null-conditional assignment</a:t>
            </a:r>
            <a:endParaRPr lang="es-ES" sz="32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AEC0D6-7F18-A378-3BB7-C92DB8DE9208}"/>
              </a:ext>
            </a:extLst>
          </p:cNvPr>
          <p:cNvSpPr/>
          <p:nvPr/>
        </p:nvSpPr>
        <p:spPr>
          <a:xfrm>
            <a:off x="12639207" y="4292184"/>
            <a:ext cx="8353893" cy="1409075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User-defined compound assignment operators</a:t>
            </a:r>
            <a:endParaRPr lang="es-ES" sz="32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6C6662E-5AD3-2664-199D-FFD5FA545125}"/>
              </a:ext>
            </a:extLst>
          </p:cNvPr>
          <p:cNvSpPr/>
          <p:nvPr/>
        </p:nvSpPr>
        <p:spPr>
          <a:xfrm>
            <a:off x="2377606" y="4292184"/>
            <a:ext cx="8353893" cy="1409075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Partial events and constructors</a:t>
            </a:r>
            <a:endParaRPr lang="es-ES" sz="32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7A0ED8B-01A7-E318-0DAF-8A427194AB6C}"/>
              </a:ext>
            </a:extLst>
          </p:cNvPr>
          <p:cNvSpPr/>
          <p:nvPr/>
        </p:nvSpPr>
        <p:spPr>
          <a:xfrm>
            <a:off x="12639207" y="2069684"/>
            <a:ext cx="8353893" cy="1409075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Field access in auto-properties</a:t>
            </a:r>
            <a:endParaRPr lang="es-ES" sz="32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E357C3-B200-B56C-9E45-245B05127D78}"/>
              </a:ext>
            </a:extLst>
          </p:cNvPr>
          <p:cNvSpPr/>
          <p:nvPr/>
        </p:nvSpPr>
        <p:spPr>
          <a:xfrm>
            <a:off x="2377606" y="6514684"/>
            <a:ext cx="8353893" cy="1409075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Extension members</a:t>
            </a:r>
            <a:endParaRPr lang="es-ES" sz="32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38E6E29-A359-4DDF-7728-0E50FAC8F8B6}"/>
              </a:ext>
            </a:extLst>
          </p:cNvPr>
          <p:cNvSpPr/>
          <p:nvPr/>
        </p:nvSpPr>
        <p:spPr>
          <a:xfrm>
            <a:off x="12639205" y="6514684"/>
            <a:ext cx="8353893" cy="1409075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Extension operators</a:t>
            </a:r>
            <a:endParaRPr lang="es-ES" sz="32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DB4C7B9-A3FA-65A6-1866-FF870C70347C}"/>
              </a:ext>
            </a:extLst>
          </p:cNvPr>
          <p:cNvSpPr/>
          <p:nvPr/>
        </p:nvSpPr>
        <p:spPr>
          <a:xfrm>
            <a:off x="2377605" y="8648284"/>
            <a:ext cx="8353893" cy="1409075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Unbound generic types in “</a:t>
            </a:r>
            <a:r>
              <a:rPr lang="en-US" sz="3200" dirty="0" err="1"/>
              <a:t>nameof</a:t>
            </a:r>
            <a:r>
              <a:rPr lang="en-US" sz="3200" dirty="0"/>
              <a:t>()”</a:t>
            </a:r>
            <a:endParaRPr lang="es-ES" sz="32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56AB685-A61C-2909-4324-E34BA63EABE3}"/>
              </a:ext>
            </a:extLst>
          </p:cNvPr>
          <p:cNvSpPr/>
          <p:nvPr/>
        </p:nvSpPr>
        <p:spPr>
          <a:xfrm>
            <a:off x="12639206" y="8648284"/>
            <a:ext cx="8353893" cy="1409075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Simple lambda parameters with modifiers</a:t>
            </a:r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2764486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95C8-0BA6-9F1F-3439-592645336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90D896-23B7-D850-DFE2-D532153132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57376" y="6096225"/>
            <a:ext cx="11784124" cy="1289311"/>
          </a:xfrm>
        </p:spPr>
        <p:txBody>
          <a:bodyPr/>
          <a:lstStyle/>
          <a:p>
            <a:r>
              <a:rPr lang="en-US" b="1" dirty="0"/>
              <a:t>New in EF Core 10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0A1D8-D729-BE40-2C85-395EBF26C1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9104" y="6096226"/>
            <a:ext cx="1718271" cy="1289312"/>
          </a:xfrm>
        </p:spPr>
        <p:txBody>
          <a:bodyPr/>
          <a:lstStyle/>
          <a:p>
            <a:r>
              <a:rPr lang="en-US" b="1" dirty="0">
                <a:solidFill>
                  <a:schemeClr val="bg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66214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4EE29-8D31-496C-9603-EB9C2AD43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30807AD-B867-9CA4-D3BA-C9DCE20EF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🚀Targeted performance improvements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AF14E8A-6EB0-2BE6-D6DA-C90AAE9A4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Releasing memory from Kestrel memory pool</a:t>
            </a:r>
          </a:p>
          <a:p>
            <a:r>
              <a:rPr lang="en-US" dirty="0">
                <a:ea typeface="+mn-lt"/>
                <a:cs typeface="+mn-lt"/>
              </a:rPr>
              <a:t>API JSON deserialization performance</a:t>
            </a:r>
          </a:p>
        </p:txBody>
      </p:sp>
    </p:spTree>
    <p:extLst>
      <p:ext uri="{BB962C8B-B14F-4D97-AF65-F5344CB8AC3E}">
        <p14:creationId xmlns:p14="http://schemas.microsoft.com/office/powerpoint/2010/main" val="2342601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A3DF48-5B76-8C82-FC6D-F08E08D14C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57376" y="6096225"/>
            <a:ext cx="15390924" cy="1289311"/>
          </a:xfrm>
        </p:spPr>
        <p:txBody>
          <a:bodyPr/>
          <a:lstStyle/>
          <a:p>
            <a:r>
              <a:rPr lang="en-US" b="1" dirty="0"/>
              <a:t>New in ASP.NET Core 10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7B1CB7-605A-30B6-E0E5-9EADF23702B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2212" y="6096226"/>
            <a:ext cx="1915164" cy="1289312"/>
          </a:xfrm>
        </p:spPr>
        <p:txBody>
          <a:bodyPr/>
          <a:lstStyle/>
          <a:p>
            <a:r>
              <a:rPr lang="en-US" b="1" dirty="0">
                <a:solidFill>
                  <a:schemeClr val="bg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05665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ADCAC-77C1-0F47-ECB8-8A43C2781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DE773C2-75E5-CE6C-810C-2E8477BCE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🚀Targeted performance improvements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32D85EC-51B5-68F5-FAF8-3F6BBEF69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Releasing memory from Kestrel memory pool</a:t>
            </a:r>
          </a:p>
          <a:p>
            <a:r>
              <a:rPr lang="en-US" dirty="0">
                <a:ea typeface="+mn-lt"/>
                <a:cs typeface="+mn-lt"/>
              </a:rPr>
              <a:t>API JSON deserialization performance</a:t>
            </a:r>
          </a:p>
        </p:txBody>
      </p:sp>
    </p:spTree>
    <p:extLst>
      <p:ext uri="{BB962C8B-B14F-4D97-AF65-F5344CB8AC3E}">
        <p14:creationId xmlns:p14="http://schemas.microsoft.com/office/powerpoint/2010/main" val="3694853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39931B-C83D-BE77-B36F-E06D6EB1B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43CB89-1198-D624-9C0C-31A74696D5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57376" y="6096225"/>
            <a:ext cx="15390924" cy="1289311"/>
          </a:xfrm>
        </p:spPr>
        <p:txBody>
          <a:bodyPr/>
          <a:lstStyle/>
          <a:p>
            <a:r>
              <a:rPr lang="en-US" b="1" dirty="0"/>
              <a:t>New in Aspire 13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86F0F-A357-0ED4-3FBE-2533DBCA0EA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2212" y="6096226"/>
            <a:ext cx="1915164" cy="1289312"/>
          </a:xfrm>
        </p:spPr>
        <p:txBody>
          <a:bodyPr/>
          <a:lstStyle/>
          <a:p>
            <a:r>
              <a:rPr lang="en-US" b="1" dirty="0">
                <a:solidFill>
                  <a:schemeClr val="bg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78254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CF212-D7F0-C008-33C2-DCE9D4501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EEC4BBB-B54C-35B4-5790-8FC2CDAFE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🚀Targeted performance improvements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78491A-D7BE-4E5B-189C-19CB91E2E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Releasing memory from Kestrel memory pool</a:t>
            </a:r>
          </a:p>
          <a:p>
            <a:r>
              <a:rPr lang="en-US" dirty="0">
                <a:ea typeface="+mn-lt"/>
                <a:cs typeface="+mn-lt"/>
              </a:rPr>
              <a:t>API JSON deserialization performance</a:t>
            </a:r>
          </a:p>
        </p:txBody>
      </p:sp>
    </p:spTree>
    <p:extLst>
      <p:ext uri="{BB962C8B-B14F-4D97-AF65-F5344CB8AC3E}">
        <p14:creationId xmlns:p14="http://schemas.microsoft.com/office/powerpoint/2010/main" val="1006598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54FB7-C4A9-5341-8FD8-2C4C3372D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AD794D-CE74-91BC-80D8-2828096DB1C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b="1" dirty="0"/>
              <a:t>New Features of C# 14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E7884728-8A53-3E57-C3A8-660C9807A0BD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095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3C556-C713-401F-C0B4-769EED1FD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89F16-A043-E8FC-3332-1668827D2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Try out .NET 10 today! </a:t>
            </a:r>
            <a:r>
              <a:rPr lang="en-US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get.dot.net/10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What’s new in .NET 10: </a:t>
            </a:r>
            <a:r>
              <a:rPr lang="en-US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https://learn.microsoft.com/en-us/dotnet/core/whats-new/dotnet-10/overview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What's new in C# 14: </a:t>
            </a:r>
            <a:r>
              <a:rPr lang="en-US" b="1" dirty="0">
                <a:hlinkClick r:id="rId4"/>
              </a:rPr>
              <a:t>https://learn.microsoft.com/en-us/dotnet/csharp/whats-new/csharp-14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What's New in EF Core 10: </a:t>
            </a:r>
            <a:r>
              <a:rPr lang="en-US" b="1" dirty="0">
                <a:hlinkClick r:id="rId5"/>
              </a:rPr>
              <a:t>https://learn.microsoft.com/en-us/ef/core/what-is-new/ef-core-10.0/whatsnew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What's new in ASP.NET Core in .NET 10: </a:t>
            </a:r>
            <a:r>
              <a:rPr lang="en-US" b="1" dirty="0">
                <a:hlinkClick r:id="rId6"/>
              </a:rPr>
              <a:t>https://learn.microsoft.com/en-us/aspnet/core/release-notes/aspnetcore-10.0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What's new in Aspire 13: </a:t>
            </a:r>
            <a:r>
              <a:rPr lang="en-US" b="1" dirty="0">
                <a:hlinkClick r:id="rId7"/>
              </a:rPr>
              <a:t>https://aspire.dev/whats-new/aspire-13-1/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93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966A5-9F3E-8EDF-88DE-A6DB0B8C2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95D149-24D8-DDE9-B8F3-99BCDF591E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spc="-400">
                <a:solidFill>
                  <a:schemeClr val="bg1"/>
                </a:solidFill>
              </a:rPr>
              <a:t>Thank you</a:t>
            </a:r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80682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68">
      <a:dk1>
        <a:srgbClr val="000000"/>
      </a:dk1>
      <a:lt1>
        <a:srgbClr val="FEFFFE"/>
      </a:lt1>
      <a:dk2>
        <a:srgbClr val="1F1E32"/>
      </a:dk2>
      <a:lt2>
        <a:srgbClr val="A5A6A6"/>
      </a:lt2>
      <a:accent1>
        <a:srgbClr val="5728DC"/>
      </a:accent1>
      <a:accent2>
        <a:srgbClr val="0B6BFF"/>
      </a:accent2>
      <a:accent3>
        <a:srgbClr val="D600AA"/>
      </a:accent3>
      <a:accent4>
        <a:srgbClr val="EEEAFA"/>
      </a:accent4>
      <a:accent5>
        <a:srgbClr val="B9AAEE"/>
      </a:accent5>
      <a:accent6>
        <a:srgbClr val="9DC3FF"/>
      </a:accent6>
      <a:hlink>
        <a:srgbClr val="800066"/>
      </a:hlink>
      <a:folHlink>
        <a:srgbClr val="EF99D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</TotalTime>
  <Words>526</Words>
  <Application>Microsoft Office PowerPoint</Application>
  <PresentationFormat>Custom</PresentationFormat>
  <Paragraphs>60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Aptos Display</vt:lpstr>
      <vt:lpstr>Arial</vt:lpstr>
      <vt:lpstr>Poppins</vt:lpstr>
      <vt:lpstr>Segoe UI</vt:lpstr>
      <vt:lpstr>Segoe UI Variable Display</vt:lpstr>
      <vt:lpstr>Segoe UI Variable Display Semibold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🚀Targeted performance improvements</vt:lpstr>
      <vt:lpstr>PowerPoint Presentation</vt:lpstr>
      <vt:lpstr>🚀Targeted performance improvements</vt:lpstr>
      <vt:lpstr>PowerPoint Presentation</vt:lpstr>
      <vt:lpstr>🚀Targeted performance improvements</vt:lpstr>
      <vt:lpstr>PowerPoint Presentation</vt:lpstr>
      <vt:lpstr>Resources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Sergio Parra Guerra</cp:lastModifiedBy>
  <cp:revision>11</cp:revision>
  <dcterms:created xsi:type="dcterms:W3CDTF">2026-01-07T18:17:04Z</dcterms:created>
  <dcterms:modified xsi:type="dcterms:W3CDTF">2026-02-10T16:48:02Z</dcterms:modified>
</cp:coreProperties>
</file>